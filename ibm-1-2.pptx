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comment1.xml" ContentType="application/vnd.openxmlformats-officedocument.presentationml.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59" r:id="rId5"/>
    <p:sldId id="287" r:id="rId6"/>
    <p:sldId id="288" r:id="rId7"/>
    <p:sldId id="278" r:id="rId8"/>
    <p:sldId id="273" r:id="rId9"/>
    <p:sldId id="262" r:id="rId10"/>
    <p:sldId id="281" r:id="rId11"/>
    <p:sldId id="294" r:id="rId12"/>
    <p:sldId id="279" r:id="rId13"/>
    <p:sldId id="285" r:id="rId14"/>
    <p:sldId id="290" r:id="rId15"/>
    <p:sldId id="291" r:id="rId16"/>
    <p:sldId id="280" r:id="rId17"/>
    <p:sldId id="277"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eerthana Gowda" initials="KG" lastIdx="1" clrIdx="0">
    <p:extLst>
      <p:ext uri="{19B8F6BF-5375-455C-9EA6-DF929625EA0E}">
        <p15:presenceInfo xmlns:p15="http://schemas.microsoft.com/office/powerpoint/2012/main" userId="428430cf6e58b17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notesMaster" Target="notesMasters/notesMaster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32"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8" Type="http://schemas.openxmlformats.org/officeDocument/2006/relationships/commentAuthors" Target="commentAuthor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7" Type="http://customschemas.google.com/relationships/presentationmetadata" Target="metadata" /><Relationship Id="rId30" Type="http://schemas.openxmlformats.org/officeDocument/2006/relationships/viewProps" Target="viewProps.xml" /></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2-01T22:55:48.158" idx="1">
    <p:pos x="10" y="10"/>
    <p:text>Langflow platform
Langflow component name –  Agent  , Chat input , Chat output 
IBM Grainte model -  for eg – ibm-granite-3-2-8b   
IBM Cloud
RAG if used 
IBM Watsonx.ai
Watsonx</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57862122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5889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1256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53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440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9050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69906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313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9660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85931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25096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1178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theme" Target="../theme/theme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2.jfif" /><Relationship Id="rId2" Type="http://schemas.openxmlformats.org/officeDocument/2006/relationships/notesSlide" Target="../notesSlides/notesSlide1.xml" /><Relationship Id="rId1" Type="http://schemas.openxmlformats.org/officeDocument/2006/relationships/slideLayout" Target="../slideLayouts/slideLayout1.xml" /><Relationship Id="rId6" Type="http://schemas.openxmlformats.org/officeDocument/2006/relationships/image" Target="../media/image1.png" /><Relationship Id="rId5" Type="http://schemas.openxmlformats.org/officeDocument/2006/relationships/image" Target="../media/image4.jpeg" /><Relationship Id="rId4" Type="http://schemas.openxmlformats.org/officeDocument/2006/relationships/image" Target="../media/image3.jfif" /></Relationships>
</file>

<file path=ppt/slides/_rels/slide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6.xml" /><Relationship Id="rId1" Type="http://schemas.openxmlformats.org/officeDocument/2006/relationships/slideLayout" Target="../slideLayouts/slideLayout1.xml" /><Relationship Id="rId4" Type="http://schemas.openxmlformats.org/officeDocument/2006/relationships/comments" Target="../comments/comment1.xml" /></Relationships>
</file>

<file path=ppt/slides/_rels/slide8.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8.xml" /><Relationship Id="rId1" Type="http://schemas.openxmlformats.org/officeDocument/2006/relationships/slideLayout" Target="../slideLayouts/slideLayout1.xml" /><Relationship Id="rId4" Type="http://schemas.openxmlformats.org/officeDocument/2006/relationships/image" Target="../media/image1.png" /></Relationships>
</file>

<file path=ppt/slides/_rels/slide10.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10.xml" /><Relationship Id="rId1" Type="http://schemas.openxmlformats.org/officeDocument/2006/relationships/slideLayout" Target="../slideLayouts/slideLayout1.xml" /><Relationship Id="rId4" Type="http://schemas.openxmlformats.org/officeDocument/2006/relationships/image" Target="../media/image1.png" /></Relationships>
</file>

<file path=ppt/slides/_rels/slide13.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11.xml" /><Relationship Id="rId1" Type="http://schemas.openxmlformats.org/officeDocument/2006/relationships/slideLayout" Target="../slideLayouts/slideLayout1.xml" /><Relationship Id="rId4" Type="http://schemas.openxmlformats.org/officeDocument/2006/relationships/image" Target="../media/image1.png" /></Relationships>
</file>

<file path=ppt/slides/_rels/slide14.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12.xml" /><Relationship Id="rId1" Type="http://schemas.openxmlformats.org/officeDocument/2006/relationships/slideLayout" Target="../slideLayouts/slideLayout1.xml" /><Relationship Id="rId4" Type="http://schemas.openxmlformats.org/officeDocument/2006/relationships/image" Target="../media/image1.png" /></Relationships>
</file>

<file path=ppt/slides/_rels/slide15.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13.xml" /><Relationship Id="rId1" Type="http://schemas.openxmlformats.org/officeDocument/2006/relationships/slideLayout" Target="../slideLayouts/slideLayout1.xml" /><Relationship Id="rId4" Type="http://schemas.openxmlformats.org/officeDocument/2006/relationships/image" Target="../media/image1.png" /></Relationships>
</file>

<file path=ppt/slides/_rels/slide1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5.xml" /><Relationship Id="rId1" Type="http://schemas.openxmlformats.org/officeDocument/2006/relationships/slideLayout" Target="../slideLayouts/slideLayout1.xml" /><Relationship Id="rId4" Type="http://schemas.openxmlformats.org/officeDocument/2006/relationships/hyperlink" Target="https://github.com/keerthanagowda1505-blip/First-Project" TargetMode="External" /></Relationships>
</file>

<file path=ppt/slides/_rels/slide18.xml.rels><?xml version="1.0" encoding="UTF-8" standalone="yes"?>
<Relationships xmlns="http://schemas.openxmlformats.org/package/2006/relationships"><Relationship Id="rId3" Type="http://schemas.openxmlformats.org/officeDocument/2006/relationships/hyperlink" Target="https://journal.ijprse.com/index.php/ijprse/article/view/1224" TargetMode="External" /><Relationship Id="rId7" Type="http://schemas.openxmlformats.org/officeDocument/2006/relationships/image" Target="../media/image1.png" /><Relationship Id="rId2" Type="http://schemas.openxmlformats.org/officeDocument/2006/relationships/notesSlide" Target="../notesSlides/notesSlide16.xml" /><Relationship Id="rId1" Type="http://schemas.openxmlformats.org/officeDocument/2006/relationships/slideLayout" Target="../slideLayouts/slideLayout1.xml" /><Relationship Id="rId6" Type="http://schemas.openxmlformats.org/officeDocument/2006/relationships/hyperlink" Target="https://doi.org/10.1016/j.sintl.2024.100292" TargetMode="External" /><Relationship Id="rId5" Type="http://schemas.openxmlformats.org/officeDocument/2006/relationships/hyperlink" Target="https://doi.org/10.17051/NJSARI/01.01.07" TargetMode="External" /><Relationship Id="rId4" Type="http://schemas.openxmlformats.org/officeDocument/2006/relationships/hyperlink" Target="https://doi.org/10.25081/jsa.2025.v9.9497" TargetMode="External" /></Relationships>
</file>

<file path=ppt/slides/_rels/slide19.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notesSlide" Target="../notesSlides/notesSlide17.xml" /><Relationship Id="rId1" Type="http://schemas.openxmlformats.org/officeDocument/2006/relationships/slideLayout" Target="../slideLayouts/slideLayout1.xml" /><Relationship Id="rId4" Type="http://schemas.openxmlformats.org/officeDocument/2006/relationships/image" Target="../media/image1.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581583"/>
            <a:ext cx="10515600" cy="2852737"/>
          </a:xfrm>
        </p:spPr>
        <p:txBody>
          <a:bodyPr>
            <a:normAutofit/>
          </a:bodyPr>
          <a:lstStyle/>
          <a:p>
            <a:pPr algn="ctr"/>
            <a:r>
              <a:rPr lang="en-US" dirty="0"/>
              <a:t>Agentic AI Hackathon: Building Intelligent Agents with IBM Granite and </a:t>
            </a:r>
            <a:r>
              <a:rPr lang="en-US" dirty="0" err="1"/>
              <a:t>LangFlow</a:t>
            </a: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normAutofit/>
          </a:bodyPr>
          <a:lstStyle/>
          <a:p>
            <a:pPr algn="ctr"/>
            <a:r>
              <a:rPr lang="en-US" sz="3200" b="1" i="1" dirty="0">
                <a:solidFill>
                  <a:schemeClr val="tx1">
                    <a:lumMod val="65000"/>
                    <a:lumOff val="35000"/>
                  </a:schemeClr>
                </a:solidFill>
              </a:rPr>
              <a:t>AI-Based Crop Health Monitoring and Advisory System</a:t>
            </a:r>
          </a:p>
        </p:txBody>
      </p:sp>
      <p:pic>
        <p:nvPicPr>
          <p:cNvPr id="4" name="Picture 3">
            <a:extLst>
              <a:ext uri="{FF2B5EF4-FFF2-40B4-BE49-F238E27FC236}">
                <a16:creationId xmlns:a16="http://schemas.microsoft.com/office/drawing/2014/main" id="{9270813B-BF9E-B61A-92D0-FA37C990652F}"/>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2490652" y="1219200"/>
            <a:ext cx="7301728" cy="27130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a:t>
            </a:r>
            <a:r>
              <a:rPr lang="en-US" sz="3500" b="1" dirty="0" err="1">
                <a:solidFill>
                  <a:srgbClr val="1F3864"/>
                </a:solidFill>
                <a:latin typeface="Times New Roman"/>
                <a:ea typeface="Times New Roman"/>
                <a:cs typeface="Times New Roman"/>
                <a:sym typeface="Times New Roman"/>
              </a:rPr>
              <a:t>FarmTech</a:t>
            </a:r>
            <a:r>
              <a:rPr lang="en-US" sz="3500" b="1" i="0" u="none" strike="noStrike" cap="none" dirty="0">
                <a:solidFill>
                  <a:srgbClr val="C00000"/>
                </a:solidFill>
                <a:latin typeface="Times New Roman"/>
                <a:ea typeface="Times New Roman"/>
                <a:cs typeface="Times New Roman"/>
                <a:sym typeface="Times New Roman"/>
              </a:rPr>
              <a:t> </a:t>
            </a:r>
            <a:r>
              <a:rPr lang="en-US" sz="3500" b="1" i="0" u="none" strike="noStrike" cap="none" dirty="0">
                <a:solidFill>
                  <a:srgbClr val="002060"/>
                </a:solidFill>
                <a:latin typeface="Times New Roman"/>
                <a:ea typeface="Times New Roman"/>
                <a:cs typeface="Times New Roman"/>
                <a:sym typeface="Times New Roman"/>
              </a:rPr>
              <a:t> </a:t>
            </a:r>
            <a:endParaRPr dirty="0"/>
          </a:p>
        </p:txBody>
      </p:sp>
      <p:sp>
        <p:nvSpPr>
          <p:cNvPr id="95" name="Google Shape;95;p2"/>
          <p:cNvSpPr txBox="1"/>
          <p:nvPr/>
        </p:nvSpPr>
        <p:spPr>
          <a:xfrm>
            <a:off x="2190457" y="1490505"/>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876740297"/>
              </p:ext>
            </p:extLst>
          </p:nvPr>
        </p:nvGraphicFramePr>
        <p:xfrm>
          <a:off x="1367769" y="1942025"/>
          <a:ext cx="9291390" cy="4373492"/>
        </p:xfrm>
        <a:graphic>
          <a:graphicData uri="http://schemas.openxmlformats.org/drawingml/2006/table">
            <a:tbl>
              <a:tblPr>
                <a:noFill/>
                <a:tableStyleId>{0AAD8F4D-43EB-41E5-8A38-28AB6DFB1B60}</a:tableStyleId>
              </a:tblPr>
              <a:tblGrid>
                <a:gridCol w="2042097">
                  <a:extLst>
                    <a:ext uri="{9D8B030D-6E8A-4147-A177-3AD203B41FA5}">
                      <a16:colId xmlns:a16="http://schemas.microsoft.com/office/drawing/2014/main" val="20000"/>
                    </a:ext>
                  </a:extLst>
                </a:gridCol>
                <a:gridCol w="2416431">
                  <a:extLst>
                    <a:ext uri="{9D8B030D-6E8A-4147-A177-3AD203B41FA5}">
                      <a16:colId xmlns:a16="http://schemas.microsoft.com/office/drawing/2014/main" val="20002"/>
                    </a:ext>
                  </a:extLst>
                </a:gridCol>
                <a:gridCol w="2416431">
                  <a:extLst>
                    <a:ext uri="{9D8B030D-6E8A-4147-A177-3AD203B41FA5}">
                      <a16:colId xmlns:a16="http://schemas.microsoft.com/office/drawing/2014/main" val="20003"/>
                    </a:ext>
                  </a:extLst>
                </a:gridCol>
                <a:gridCol w="2416431">
                  <a:extLst>
                    <a:ext uri="{9D8B030D-6E8A-4147-A177-3AD203B41FA5}">
                      <a16:colId xmlns:a16="http://schemas.microsoft.com/office/drawing/2014/main" val="20004"/>
                    </a:ext>
                  </a:extLst>
                </a:gridCol>
              </a:tblGrid>
              <a:tr h="922369">
                <a:tc>
                  <a:txBody>
                    <a:bodyPr/>
                    <a:lstStyle/>
                    <a:p>
                      <a:pPr marL="0" marR="0" lvl="0" indent="0" algn="ctr" rtl="0">
                        <a:spcBef>
                          <a:spcPts val="0"/>
                        </a:spcBef>
                        <a:spcAft>
                          <a:spcPts val="0"/>
                        </a:spcAft>
                        <a:buNone/>
                      </a:pPr>
                      <a:r>
                        <a:rPr lang="en-US" sz="1800" u="none" strike="noStrike" cap="none" dirty="0"/>
                        <a:t>TEAM MEMBER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Email ID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Phone number</a:t>
                      </a:r>
                      <a:endParaRPr/>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[WhatsApp]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31491">
                <a:tc>
                  <a:txBody>
                    <a:bodyPr/>
                    <a:lstStyle/>
                    <a:p>
                      <a:pPr marL="0" marR="0" lvl="0" indent="0" algn="l" rtl="0">
                        <a:spcBef>
                          <a:spcPts val="0"/>
                        </a:spcBef>
                        <a:spcAft>
                          <a:spcPts val="0"/>
                        </a:spcAft>
                        <a:buNone/>
                      </a:pPr>
                      <a:r>
                        <a:rPr lang="en-US" dirty="0" err="1"/>
                        <a:t>Gagana</a:t>
                      </a:r>
                      <a:r>
                        <a:rPr lang="en-IN" dirty="0"/>
                        <a:t> </a:t>
                      </a:r>
                      <a:r>
                        <a:rPr lang="en-US" dirty="0"/>
                        <a:t>K</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err="1"/>
                        <a:t>brunogagana@gmail.con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7760859880</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188141">
                <a:tc>
                  <a:txBody>
                    <a:bodyPr/>
                    <a:lstStyle/>
                    <a:p>
                      <a:pPr marL="0" marR="0" lvl="0" indent="0" algn="l" rtl="0">
                        <a:spcBef>
                          <a:spcPts val="0"/>
                        </a:spcBef>
                        <a:spcAft>
                          <a:spcPts val="0"/>
                        </a:spcAft>
                        <a:buNone/>
                      </a:pPr>
                      <a:r>
                        <a:rPr lang="en-US" dirty="0" err="1"/>
                        <a:t>Keerthana</a:t>
                      </a:r>
                      <a:r>
                        <a:rPr lang="en-US" dirty="0"/>
                        <a:t> B</a:t>
                      </a:r>
                      <a:r>
                        <a:rPr lang="en-IN" dirty="0"/>
                        <a:t> </a:t>
                      </a:r>
                      <a:r>
                        <a:rPr lang="en-US" dirty="0"/>
                        <a:t>P</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IN" dirty="0"/>
                        <a:t>keerthanagowda1505@gmail.com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US" dirty="0"/>
                        <a:t>6360558071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1131491">
                <a:tc>
                  <a:txBody>
                    <a:bodyPr/>
                    <a:lstStyle/>
                    <a:p>
                      <a:pPr marL="0" marR="0" lvl="0" indent="0" algn="l" rtl="0">
                        <a:spcBef>
                          <a:spcPts val="0"/>
                        </a:spcBef>
                        <a:spcAft>
                          <a:spcPts val="0"/>
                        </a:spcAft>
                        <a:buNone/>
                      </a:pPr>
                      <a:r>
                        <a:rPr lang="en-US" sz="1400" dirty="0" err="1"/>
                        <a:t>Keerthana</a:t>
                      </a:r>
                      <a:r>
                        <a:rPr lang="en-IN" sz="1400" dirty="0"/>
                        <a:t> N</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400" dirty="0"/>
                        <a:t>keerthanajayanthi54@gmail.com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400" dirty="0"/>
                        <a:t>9606667816</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97" name="Google Shape;97;p2"/>
          <p:cNvPicPr preferRelativeResize="0"/>
          <p:nvPr/>
        </p:nvPicPr>
        <p:blipFill rotWithShape="1">
          <a:blip r:embed="rId3">
            <a:extLst>
              <a:ext uri="{28A0092B-C50C-407E-A947-70E740481C1C}">
                <a14:useLocalDpi xmlns:a14="http://schemas.microsoft.com/office/drawing/2010/main" val="0"/>
              </a:ext>
            </a:extLst>
          </a:blip>
          <a:srcRect l="13487" t="1026" r="22858" b="4829"/>
          <a:stretch/>
        </p:blipFill>
        <p:spPr>
          <a:xfrm>
            <a:off x="4112621" y="5237351"/>
            <a:ext cx="966870" cy="1039552"/>
          </a:xfrm>
          <a:prstGeom prst="rect">
            <a:avLst/>
          </a:prstGeom>
          <a:noFill/>
          <a:ln>
            <a:noFill/>
          </a:ln>
        </p:spPr>
      </p:pic>
      <p:pic>
        <p:nvPicPr>
          <p:cNvPr id="98" name="Google Shape;98;p2"/>
          <p:cNvPicPr preferRelativeResize="0"/>
          <p:nvPr/>
        </p:nvPicPr>
        <p:blipFill>
          <a:blip r:embed="rId4">
            <a:extLst>
              <a:ext uri="{28A0092B-C50C-407E-A947-70E740481C1C}">
                <a14:useLocalDpi xmlns:a14="http://schemas.microsoft.com/office/drawing/2010/main" val="0"/>
              </a:ext>
            </a:extLst>
          </a:blip>
          <a:stretch>
            <a:fillRect/>
          </a:stretch>
        </p:blipFill>
        <p:spPr>
          <a:xfrm>
            <a:off x="4112621" y="4017534"/>
            <a:ext cx="966870" cy="1075576"/>
          </a:xfrm>
          <a:prstGeom prst="rect">
            <a:avLst/>
          </a:prstGeom>
          <a:noFill/>
          <a:ln>
            <a:noFill/>
          </a:ln>
        </p:spPr>
      </p:pic>
      <p:pic>
        <p:nvPicPr>
          <p:cNvPr id="2" name="Google Shape;97;p2">
            <a:extLst>
              <a:ext uri="{FF2B5EF4-FFF2-40B4-BE49-F238E27FC236}">
                <a16:creationId xmlns:a16="http://schemas.microsoft.com/office/drawing/2014/main" id="{330C9D4A-B972-85E9-7C58-A77163220759}"/>
              </a:ext>
            </a:extLst>
          </p:cNvPr>
          <p:cNvPicPr preferRelativeResize="0"/>
          <p:nvPr/>
        </p:nvPicPr>
        <p:blipFill>
          <a:blip r:embed="rId5">
            <a:extLst>
              <a:ext uri="{28A0092B-C50C-407E-A947-70E740481C1C}">
                <a14:useLocalDpi xmlns:a14="http://schemas.microsoft.com/office/drawing/2010/main" val="0"/>
              </a:ext>
            </a:extLst>
          </a:blip>
          <a:stretch>
            <a:fillRect/>
          </a:stretch>
        </p:blipFill>
        <p:spPr>
          <a:xfrm>
            <a:off x="4112622" y="2906867"/>
            <a:ext cx="966870" cy="995832"/>
          </a:xfrm>
          <a:prstGeom prst="rect">
            <a:avLst/>
          </a:prstGeom>
          <a:noFill/>
          <a:ln>
            <a:noFill/>
          </a:ln>
        </p:spPr>
      </p:pic>
      <p:pic>
        <p:nvPicPr>
          <p:cNvPr id="4" name="Picture 3">
            <a:extLst>
              <a:ext uri="{FF2B5EF4-FFF2-40B4-BE49-F238E27FC236}">
                <a16:creationId xmlns:a16="http://schemas.microsoft.com/office/drawing/2014/main" id="{93071BE8-5070-42BA-3450-6F0039B8532C}"/>
              </a:ext>
            </a:extLst>
          </p:cNvPr>
          <p:cNvPicPr>
            <a:picLocks noChangeAspect="1"/>
          </p:cNvPicPr>
          <p:nvPr/>
        </p:nvPicPr>
        <p:blipFill>
          <a:blip r:embed="rId6"/>
          <a:stretch>
            <a:fillRect/>
          </a:stretch>
        </p:blipFill>
        <p:spPr>
          <a:xfrm>
            <a:off x="335797" y="6315517"/>
            <a:ext cx="11520407" cy="31005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805056" y="2185876"/>
            <a:ext cx="9393066" cy="2343655"/>
          </a:xfrm>
          <a:prstGeom prst="rect">
            <a:avLst/>
          </a:prstGeom>
          <a:noFill/>
        </p:spPr>
        <p:txBody>
          <a:bodyPr wrap="square" rtlCol="0">
            <a:spAutoFit/>
          </a:bodyPr>
          <a:lstStyle/>
          <a:p>
            <a:pPr>
              <a:lnSpc>
                <a:spcPct val="150000"/>
              </a:lnSpc>
            </a:pPr>
            <a:r>
              <a:rPr lang="en-IN" sz="2000" dirty="0"/>
              <a:t>Crop health depends on soil conditions, weather, pests, and irrigation. Farmers often rely on manual field checks, which can delay the detection of early crop stress. An AI-based system is needed to continuously monitor agricultural data, identify risks early, and provide timely advisories to improve yield and farm decision-making.</a:t>
            </a:r>
          </a:p>
        </p:txBody>
      </p:sp>
      <p:sp>
        <p:nvSpPr>
          <p:cNvPr id="3" name="TextBox 2">
            <a:extLst>
              <a:ext uri="{FF2B5EF4-FFF2-40B4-BE49-F238E27FC236}">
                <a16:creationId xmlns:a16="http://schemas.microsoft.com/office/drawing/2014/main" id="{9C57FE32-8AA8-E540-E0AA-C9737C71A0E2}"/>
              </a:ext>
            </a:extLst>
          </p:cNvPr>
          <p:cNvSpPr txBox="1"/>
          <p:nvPr/>
        </p:nvSpPr>
        <p:spPr>
          <a:xfrm>
            <a:off x="805056" y="1303351"/>
            <a:ext cx="426333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Problem statement </a:t>
            </a:r>
          </a:p>
        </p:txBody>
      </p:sp>
      <p:pic>
        <p:nvPicPr>
          <p:cNvPr id="5" name="Picture 4">
            <a:extLst>
              <a:ext uri="{FF2B5EF4-FFF2-40B4-BE49-F238E27FC236}">
                <a16:creationId xmlns:a16="http://schemas.microsoft.com/office/drawing/2014/main" id="{E7A64CCA-ED49-69BC-3595-2C1CBD5E6D0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8244C99C-C879-4B03-F7F7-7306F7D33083}"/>
              </a:ext>
            </a:extLst>
          </p:cNvPr>
          <p:cNvSpPr txBox="1"/>
          <p:nvPr/>
        </p:nvSpPr>
        <p:spPr>
          <a:xfrm>
            <a:off x="961644" y="1817952"/>
            <a:ext cx="10268712" cy="326698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2000" dirty="0"/>
              <a:t>Develop an AI-based crop health monitoring system</a:t>
            </a:r>
          </a:p>
          <a:p>
            <a:pPr marL="285750" indent="-285750">
              <a:lnSpc>
                <a:spcPct val="150000"/>
              </a:lnSpc>
              <a:buFont typeface="Arial" panose="020B0604020202020204" pitchFamily="34" charset="0"/>
              <a:buChar char="•"/>
            </a:pPr>
            <a:r>
              <a:rPr lang="en-IN" sz="2000" dirty="0"/>
              <a:t>Continuously collect data from soil, weather, and crop growth conditions
</a:t>
            </a:r>
            <a:r>
              <a:rPr lang="en-IN" sz="2000" dirty="0" err="1"/>
              <a:t>Analyze</a:t>
            </a:r>
            <a:r>
              <a:rPr lang="en-IN" sz="2000" dirty="0"/>
              <a:t> data using AI models to detect early crop stress and risks
Identify potential pest attacks and adverse environmental conditions
Generate real-time alerts for emerging crop health issues
Provide agronomy-aligned advisories for better farm decisions
Help improve crop yield, resource efficiency, and sustainability</a:t>
            </a:r>
          </a:p>
        </p:txBody>
      </p:sp>
      <p:sp>
        <p:nvSpPr>
          <p:cNvPr id="3" name="TextBox 2">
            <a:extLst>
              <a:ext uri="{FF2B5EF4-FFF2-40B4-BE49-F238E27FC236}">
                <a16:creationId xmlns:a16="http://schemas.microsoft.com/office/drawing/2014/main" id="{2F548320-B634-92CD-C520-43B25557F859}"/>
              </a:ext>
            </a:extLst>
          </p:cNvPr>
          <p:cNvSpPr txBox="1"/>
          <p:nvPr/>
        </p:nvSpPr>
        <p:spPr>
          <a:xfrm>
            <a:off x="961644" y="856851"/>
            <a:ext cx="453919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Proposed solution </a:t>
            </a:r>
          </a:p>
        </p:txBody>
      </p:sp>
      <p:pic>
        <p:nvPicPr>
          <p:cNvPr id="5" name="Picture 4">
            <a:extLst>
              <a:ext uri="{FF2B5EF4-FFF2-40B4-BE49-F238E27FC236}">
                <a16:creationId xmlns:a16="http://schemas.microsoft.com/office/drawing/2014/main"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6526727-ECCC-12A7-1A74-4C72030B01EA}"/>
              </a:ext>
            </a:extLst>
          </p:cNvPr>
          <p:cNvSpPr txBox="1"/>
          <p:nvPr/>
        </p:nvSpPr>
        <p:spPr>
          <a:xfrm>
            <a:off x="1034441" y="1737690"/>
            <a:ext cx="10368861" cy="326698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IN" sz="2000" dirty="0"/>
              <a:t>Farmers often detect crop problems too late, leading to yield loss
Manual field monitoring is time-consuming and not always accurate
Crop health depends on multiple factors that are hard to track together
Lack of real-time insights affects timely decision-making
Overuse of water, fertilizers, and pesticides increases costs and environmental impact
Farmers need data-driven guidance instead of only experience-based decisions
An AI-based system can provide early warnings and smart advisories</a:t>
            </a:r>
          </a:p>
        </p:txBody>
      </p:sp>
      <p:sp>
        <p:nvSpPr>
          <p:cNvPr id="3" name="TextBox 2">
            <a:extLst>
              <a:ext uri="{FF2B5EF4-FFF2-40B4-BE49-F238E27FC236}">
                <a16:creationId xmlns:a16="http://schemas.microsoft.com/office/drawing/2014/main" id="{0A9D9ED1-DFE2-2CB1-E07B-2D3C44A85C9C}"/>
              </a:ext>
            </a:extLst>
          </p:cNvPr>
          <p:cNvSpPr txBox="1"/>
          <p:nvPr/>
        </p:nvSpPr>
        <p:spPr>
          <a:xfrm>
            <a:off x="1034441" y="693789"/>
            <a:ext cx="549643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Need of projec</a:t>
            </a:r>
            <a:r>
              <a:rPr lang="en-US" sz="2400" b="1" dirty="0"/>
              <a:t>t </a:t>
            </a:r>
          </a:p>
        </p:txBody>
      </p:sp>
      <p:pic>
        <p:nvPicPr>
          <p:cNvPr id="5" name="Picture 4">
            <a:extLst>
              <a:ext uri="{FF2B5EF4-FFF2-40B4-BE49-F238E27FC236}">
                <a16:creationId xmlns:a16="http://schemas.microsoft.com/office/drawing/2014/main" id="{B04F3E9D-0527-2FF2-E87C-9369E2B678C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10341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68C1E71E-9159-FD3B-73D2-CC7380E7CB93}"/>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081273CA-7EF7-F715-EF93-66F231F3ABD1}"/>
              </a:ext>
            </a:extLst>
          </p:cNvPr>
          <p:cNvSpPr txBox="1"/>
          <p:nvPr/>
        </p:nvSpPr>
        <p:spPr>
          <a:xfrm>
            <a:off x="1034441" y="1755626"/>
            <a:ext cx="10268712" cy="372864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2000" b="1" dirty="0"/>
              <a:t>Farmers</a:t>
            </a:r>
            <a:r>
              <a:rPr lang="en-IN" sz="2000" dirty="0"/>
              <a:t> – To monitor crop health and receive timely advisories
</a:t>
            </a:r>
            <a:r>
              <a:rPr lang="en-IN" sz="2000" b="1" dirty="0"/>
              <a:t>Agricultural Consultants / Agronomists</a:t>
            </a:r>
            <a:r>
              <a:rPr lang="en-IN" sz="2000" dirty="0"/>
              <a:t> – To support farmers with data-driven insights
</a:t>
            </a:r>
            <a:r>
              <a:rPr lang="en-IN" sz="2000" b="1" dirty="0" err="1"/>
              <a:t>Agri</a:t>
            </a:r>
            <a:r>
              <a:rPr lang="en-IN" sz="2000" b="1" dirty="0"/>
              <a:t>-Tech Companies </a:t>
            </a:r>
            <a:r>
              <a:rPr lang="en-IN" sz="2000" dirty="0"/>
              <a:t>– To integrate smart monitoring into their solutions
</a:t>
            </a:r>
            <a:r>
              <a:rPr lang="en-IN" sz="2000" b="1" dirty="0"/>
              <a:t>Government Agriculture Departments</a:t>
            </a:r>
            <a:r>
              <a:rPr lang="en-IN" sz="2000" dirty="0"/>
              <a:t> – For large-scale crop monitoring and planning
</a:t>
            </a:r>
            <a:r>
              <a:rPr lang="en-IN" sz="2000" b="1" dirty="0"/>
              <a:t>Farmer Producer Organizations (FPOs)</a:t>
            </a:r>
            <a:r>
              <a:rPr lang="en-IN" sz="2000" dirty="0"/>
              <a:t> – To guide member farmers effectively
</a:t>
            </a:r>
            <a:r>
              <a:rPr lang="en-IN" sz="2000" b="1" dirty="0"/>
              <a:t>Research Institutions</a:t>
            </a:r>
            <a:r>
              <a:rPr lang="en-IN" sz="2000" dirty="0"/>
              <a:t> – For studying crop patterns and improving advisory models</a:t>
            </a:r>
          </a:p>
        </p:txBody>
      </p:sp>
      <p:sp>
        <p:nvSpPr>
          <p:cNvPr id="3" name="TextBox 2">
            <a:extLst>
              <a:ext uri="{FF2B5EF4-FFF2-40B4-BE49-F238E27FC236}">
                <a16:creationId xmlns:a16="http://schemas.microsoft.com/office/drawing/2014/main" id="{F987C414-2D49-9E5D-A5D6-CF94524B9BE5}"/>
              </a:ext>
            </a:extLst>
          </p:cNvPr>
          <p:cNvSpPr txBox="1"/>
          <p:nvPr/>
        </p:nvSpPr>
        <p:spPr>
          <a:xfrm>
            <a:off x="1034441" y="816785"/>
            <a:ext cx="549643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End user of project</a:t>
            </a:r>
            <a:endParaRPr lang="en-US" sz="2800" dirty="0"/>
          </a:p>
        </p:txBody>
      </p:sp>
      <p:pic>
        <p:nvPicPr>
          <p:cNvPr id="5" name="Picture 4">
            <a:extLst>
              <a:ext uri="{FF2B5EF4-FFF2-40B4-BE49-F238E27FC236}">
                <a16:creationId xmlns:a16="http://schemas.microsoft.com/office/drawing/2014/main"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428117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rtlCol="0">
            <a:spAutoFit/>
          </a:bodyPr>
          <a:lstStyle/>
          <a:p>
            <a:r>
              <a:rPr lang="en-US" sz="2800" b="1" dirty="0"/>
              <a:t>Technology Used</a:t>
            </a:r>
            <a:endParaRPr lang="en-IN" sz="2800" b="1" dirty="0"/>
          </a:p>
        </p:txBody>
      </p:sp>
      <p:pic>
        <p:nvPicPr>
          <p:cNvPr id="5" name="Picture 4">
            <a:extLst>
              <a:ext uri="{FF2B5EF4-FFF2-40B4-BE49-F238E27FC236}">
                <a16:creationId xmlns:a16="http://schemas.microsoft.com/office/drawing/2014/main"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6" name="TextBox 5">
            <a:extLst>
              <a:ext uri="{FF2B5EF4-FFF2-40B4-BE49-F238E27FC236}">
                <a16:creationId xmlns:a16="http://schemas.microsoft.com/office/drawing/2014/main" id="{CB8720B6-4CB6-06B7-5E39-21C8D26A2B93}"/>
              </a:ext>
            </a:extLst>
          </p:cNvPr>
          <p:cNvSpPr txBox="1"/>
          <p:nvPr/>
        </p:nvSpPr>
        <p:spPr>
          <a:xfrm>
            <a:off x="5181600" y="2513863"/>
            <a:ext cx="1828800" cy="1828800"/>
          </a:xfrm>
          <a:prstGeom prst="rect">
            <a:avLst/>
          </a:prstGeom>
          <a:noFill/>
        </p:spPr>
        <p:txBody>
          <a:bodyPr wrap="square" rtlCol="0">
            <a:spAutoFit/>
          </a:bodyPr>
          <a:lstStyle/>
          <a:p>
            <a:pPr algn="l"/>
            <a:endParaRPr lang="en-US" dirty="0"/>
          </a:p>
        </p:txBody>
      </p:sp>
      <p:sp>
        <p:nvSpPr>
          <p:cNvPr id="7" name="TextBox 6">
            <a:extLst>
              <a:ext uri="{FF2B5EF4-FFF2-40B4-BE49-F238E27FC236}">
                <a16:creationId xmlns:a16="http://schemas.microsoft.com/office/drawing/2014/main" id="{9FD3F10F-EE64-0C9D-BE57-E9CE6C651345}"/>
              </a:ext>
            </a:extLst>
          </p:cNvPr>
          <p:cNvSpPr txBox="1"/>
          <p:nvPr/>
        </p:nvSpPr>
        <p:spPr>
          <a:xfrm>
            <a:off x="5181600" y="2513863"/>
            <a:ext cx="1828800" cy="1828800"/>
          </a:xfrm>
          <a:prstGeom prst="rect">
            <a:avLst/>
          </a:prstGeom>
          <a:noFill/>
        </p:spPr>
        <p:txBody>
          <a:bodyPr wrap="square" rtlCol="0">
            <a:spAutoFit/>
          </a:bodyPr>
          <a:lstStyle/>
          <a:p>
            <a:pPr algn="l"/>
            <a:endParaRPr lang="en-US"/>
          </a:p>
        </p:txBody>
      </p:sp>
      <p:sp>
        <p:nvSpPr>
          <p:cNvPr id="3" name="TextBox 2">
            <a:extLst>
              <a:ext uri="{FF2B5EF4-FFF2-40B4-BE49-F238E27FC236}">
                <a16:creationId xmlns:a16="http://schemas.microsoft.com/office/drawing/2014/main" id="{E4944F21-482A-4A9F-A088-F5AB930D307B}"/>
              </a:ext>
            </a:extLst>
          </p:cNvPr>
          <p:cNvSpPr txBox="1"/>
          <p:nvPr/>
        </p:nvSpPr>
        <p:spPr>
          <a:xfrm>
            <a:off x="777240" y="1335695"/>
            <a:ext cx="9949754" cy="4651979"/>
          </a:xfrm>
          <a:prstGeom prst="rect">
            <a:avLst/>
          </a:prstGeom>
          <a:noFill/>
        </p:spPr>
        <p:txBody>
          <a:bodyPr wrap="square" rtlCol="0">
            <a:spAutoFit/>
          </a:bodyPr>
          <a:lstStyle/>
          <a:p>
            <a:pPr marL="285750" indent="-285750" algn="l">
              <a:lnSpc>
                <a:spcPct val="150000"/>
              </a:lnSpc>
              <a:buFont typeface="Arial" panose="020B0604020202020204" pitchFamily="34" charset="0"/>
              <a:buChar char="•"/>
            </a:pPr>
            <a:r>
              <a:rPr lang="en-IN" sz="2000" dirty="0" err="1"/>
              <a:t>Langflow</a:t>
            </a:r>
            <a:r>
              <a:rPr lang="en-IN" sz="2000" dirty="0"/>
              <a:t> platform
</a:t>
            </a:r>
            <a:r>
              <a:rPr lang="en-IN" sz="2000" dirty="0" err="1"/>
              <a:t>Langflow</a:t>
            </a:r>
            <a:r>
              <a:rPr lang="en-IN" sz="2000" dirty="0"/>
              <a:t> component name –  Agent  , Chat input , Chat output 
IBM </a:t>
            </a:r>
            <a:r>
              <a:rPr lang="en-IN" sz="2000" dirty="0" err="1"/>
              <a:t>Grainte</a:t>
            </a:r>
            <a:r>
              <a:rPr lang="en-IN" sz="2000" dirty="0"/>
              <a:t> model – ibm-granite-3-2-8b   
IBM Cloud</a:t>
            </a:r>
          </a:p>
          <a:p>
            <a:pPr marL="285750" indent="-285750" algn="l">
              <a:lnSpc>
                <a:spcPct val="150000"/>
              </a:lnSpc>
              <a:buFont typeface="Arial" panose="020B0604020202020204" pitchFamily="34" charset="0"/>
              <a:buChar char="•"/>
            </a:pPr>
            <a:r>
              <a:rPr lang="en-IN" sz="2000" dirty="0"/>
              <a:t>Watson studio</a:t>
            </a:r>
          </a:p>
          <a:p>
            <a:pPr marL="285750" indent="-285750" algn="l">
              <a:lnSpc>
                <a:spcPct val="150000"/>
              </a:lnSpc>
              <a:buFont typeface="Arial" panose="020B0604020202020204" pitchFamily="34" charset="0"/>
              <a:buChar char="•"/>
            </a:pPr>
            <a:r>
              <a:rPr lang="en-IN" sz="2000" dirty="0"/>
              <a:t>Watson Machine Learning</a:t>
            </a:r>
          </a:p>
          <a:p>
            <a:pPr marL="285750" indent="-285750" algn="l">
              <a:lnSpc>
                <a:spcPct val="150000"/>
              </a:lnSpc>
              <a:buFont typeface="Arial" panose="020B0604020202020204" pitchFamily="34" charset="0"/>
              <a:buChar char="•"/>
            </a:pPr>
            <a:r>
              <a:rPr lang="en-IN" sz="2000" dirty="0"/>
              <a:t>Watson Governance</a:t>
            </a:r>
          </a:p>
          <a:p>
            <a:pPr marL="285750" indent="-285750" algn="l">
              <a:lnSpc>
                <a:spcPct val="150000"/>
              </a:lnSpc>
              <a:buFont typeface="Arial" panose="020B0604020202020204" pitchFamily="34" charset="0"/>
              <a:buChar char="•"/>
            </a:pPr>
            <a:r>
              <a:rPr lang="en-IN" sz="2000" dirty="0"/>
              <a:t>Cloud Object Storage
IBM Watsonx.ai
</a:t>
            </a:r>
            <a:r>
              <a:rPr lang="en-IN" sz="2000" dirty="0" err="1"/>
              <a:t>Watsonx</a:t>
            </a:r>
            <a:endParaRPr lang="en-US" sz="2000" dirty="0"/>
          </a:p>
        </p:txBody>
      </p:sp>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3" y="656425"/>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51D3A"/>
                </a:solidFill>
                <a:latin typeface="Times New Roman"/>
                <a:ea typeface="Times New Roman"/>
                <a:cs typeface="Times New Roman"/>
                <a:sym typeface="Times New Roman"/>
              </a:rPr>
              <a:t>Novelty and Uniqueness</a:t>
            </a:r>
            <a:endParaRPr sz="2800" b="1"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676BD740-4294-408A-9014-7C75E9F50954}"/>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2" name="Rectangle 1"/>
          <p:cNvSpPr/>
          <p:nvPr/>
        </p:nvSpPr>
        <p:spPr>
          <a:xfrm>
            <a:off x="1218723" y="1583562"/>
            <a:ext cx="9714748" cy="3728649"/>
          </a:xfrm>
          <a:prstGeom prst="rect">
            <a:avLst/>
          </a:prstGeom>
        </p:spPr>
        <p:txBody>
          <a:bodyPr wrap="square">
            <a:spAutoFit/>
          </a:bodyPr>
          <a:lstStyle/>
          <a:p>
            <a:pPr marL="285750" indent="-285750">
              <a:lnSpc>
                <a:spcPct val="150000"/>
              </a:lnSpc>
              <a:buFont typeface="Arial" panose="020B0604020202020204" pitchFamily="34" charset="0"/>
              <a:buChar char="•"/>
            </a:pPr>
            <a:r>
              <a:rPr lang="en-IN" sz="2000" dirty="0"/>
              <a:t>Integrates AI with real-time farm data (soil, weather, crop stage, etc.)
Provides continuous crop health monitoring, not just one-time inspection
Detects early stress signals and disease risks before visible damage spreads
Combines data analysis + predictive models for proactive decision-making
Delivers instant, personalized advisories to farmers
Reduces dependence on manual field scouting
Accessible through simple digital/mobile platforms
Helps improve yield, input efficiency, and sustainable farming</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a:blip r:embed="rId3">
            <a:extLst>
              <a:ext uri="{28A0092B-C50C-407E-A947-70E740481C1C}">
                <a14:useLocalDpi xmlns:a14="http://schemas.microsoft.com/office/drawing/2010/main" val="0"/>
              </a:ext>
            </a:extLst>
          </a:blip>
          <a:stretch>
            <a:fillRect/>
          </a:stretch>
        </p:blipFill>
        <p:spPr>
          <a:xfrm>
            <a:off x="1003546" y="1012723"/>
            <a:ext cx="10185564" cy="5211096"/>
          </a:xfrm>
          <a:prstGeom prst="rect">
            <a:avLst/>
          </a:prstGeom>
          <a:noFill/>
          <a:ln>
            <a:noFill/>
          </a:ln>
        </p:spPr>
      </p:pic>
      <p:sp>
        <p:nvSpPr>
          <p:cNvPr id="179" name="Google Shape;179;p7"/>
          <p:cNvSpPr txBox="1"/>
          <p:nvPr/>
        </p:nvSpPr>
        <p:spPr>
          <a:xfrm>
            <a:off x="1992086" y="397845"/>
            <a:ext cx="8207828" cy="523180"/>
          </a:xfrm>
          <a:prstGeom prst="rect">
            <a:avLst/>
          </a:prstGeom>
          <a:noFill/>
          <a:ln>
            <a:noFill/>
          </a:ln>
        </p:spPr>
        <p:txBody>
          <a:bodyPr spcFirstLastPara="1" wrap="square" lIns="91425" tIns="45700" rIns="91425" bIns="45700" anchor="t" anchorCtr="0">
            <a:spAutoFit/>
          </a:bodyPr>
          <a:lstStyle/>
          <a:p>
            <a:pPr algn="ctr"/>
            <a:r>
              <a:rPr lang="en-US" sz="2800" b="1" dirty="0">
                <a:solidFill>
                  <a:schemeClr val="dk1"/>
                </a:solidFill>
                <a:ea typeface="Calibri"/>
                <a:cs typeface="Calibri"/>
                <a:sym typeface="Calibri"/>
              </a:rPr>
              <a:t>Technical flow diagram - Architecture</a:t>
            </a:r>
            <a:r>
              <a:rPr lang="en-US" sz="2800" b="1" i="0" u="none" strike="noStrike" cap="none" dirty="0">
                <a:solidFill>
                  <a:schemeClr val="dk1"/>
                </a:solidFill>
                <a:ea typeface="Calibri"/>
                <a:cs typeface="Calibri"/>
                <a:sym typeface="Calibri"/>
              </a:rPr>
              <a:t> blueprint</a:t>
            </a:r>
            <a:endParaRPr lang="en-US" sz="2800" b="1" dirty="0">
              <a:solidFill>
                <a:schemeClr val="dk1"/>
              </a:solidFill>
            </a:endParaRPr>
          </a:p>
        </p:txBody>
      </p:sp>
      <p:pic>
        <p:nvPicPr>
          <p:cNvPr id="3" name="Picture 2">
            <a:extLst>
              <a:ext uri="{FF2B5EF4-FFF2-40B4-BE49-F238E27FC236}">
                <a16:creationId xmlns:a16="http://schemas.microsoft.com/office/drawing/2014/main" id="{13F004CF-732B-B365-E320-17AD7B82A8D0}"/>
              </a:ext>
            </a:extLst>
          </p:cNvPr>
          <p:cNvPicPr>
            <a:picLocks noChangeAspect="1"/>
          </p:cNvPicPr>
          <p:nvPr/>
        </p:nvPicPr>
        <p:blipFill>
          <a:blip r:embed="rId4"/>
          <a:stretch>
            <a:fillRect/>
          </a:stretch>
        </p:blipFill>
        <p:spPr>
          <a:xfrm>
            <a:off x="335797" y="6315517"/>
            <a:ext cx="11520407" cy="310052"/>
          </a:xfrm>
          <a:prstGeom prst="rect">
            <a:avLst/>
          </a:prstGeom>
        </p:spPr>
      </p:pic>
      <p:sp>
        <p:nvSpPr>
          <p:cNvPr id="2" name="Rectangle 1"/>
          <p:cNvSpPr/>
          <p:nvPr/>
        </p:nvSpPr>
        <p:spPr>
          <a:xfrm>
            <a:off x="6882581" y="5781368"/>
            <a:ext cx="1061884" cy="1278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852134" y="23179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i="0" u="none" strike="noStrike" cap="none" dirty="0" err="1">
                <a:solidFill>
                  <a:srgbClr val="051D3A"/>
                </a:solidFill>
                <a:ea typeface="Times New Roman"/>
                <a:cs typeface="Times New Roman"/>
                <a:sym typeface="Times New Roman"/>
              </a:rPr>
              <a:t>Langflow</a:t>
            </a:r>
            <a:r>
              <a:rPr lang="en-US" sz="2800" b="1" i="0" u="none" strike="noStrike" cap="none" dirty="0">
                <a:solidFill>
                  <a:srgbClr val="051D3A"/>
                </a:solidFill>
                <a:ea typeface="Times New Roman"/>
                <a:cs typeface="Times New Roman"/>
                <a:sym typeface="Times New Roman"/>
              </a:rPr>
              <a:t> component Used </a:t>
            </a:r>
            <a:endParaRPr lang="en-US" sz="2800" b="1" i="0" u="none" strike="noStrike" cap="none" dirty="0">
              <a:solidFill>
                <a:srgbClr val="000000"/>
              </a:solidFill>
              <a:ea typeface="Times New Roman"/>
              <a:cs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852134" y="771747"/>
            <a:ext cx="8823960" cy="7879080"/>
          </a:xfrm>
          <a:prstGeom prst="rect">
            <a:avLst/>
          </a:prstGeom>
          <a:noFill/>
        </p:spPr>
        <p:txBody>
          <a:bodyPr wrap="square" rtlCol="0">
            <a:spAutoFit/>
          </a:bodyPr>
          <a:lstStyle/>
          <a:p>
            <a:pPr>
              <a:lnSpc>
                <a:spcPct val="150000"/>
              </a:lnSpc>
            </a:pPr>
            <a:r>
              <a:rPr lang="en-IN" sz="2000" dirty="0" err="1"/>
              <a:t>Langflow</a:t>
            </a:r>
            <a:r>
              <a:rPr lang="en-IN" sz="2000" dirty="0"/>
              <a:t> Components Used in the Project</a:t>
            </a:r>
          </a:p>
          <a:p>
            <a:pPr>
              <a:lnSpc>
                <a:spcPct val="150000"/>
              </a:lnSpc>
            </a:pPr>
            <a:r>
              <a:rPr lang="en-IN" sz="2000" dirty="0"/>
              <a:t>1) Chat Input</a:t>
            </a:r>
          </a:p>
          <a:p>
            <a:pPr marL="285750" indent="-285750">
              <a:lnSpc>
                <a:spcPct val="150000"/>
              </a:lnSpc>
              <a:buFont typeface="Arial" panose="020B0604020202020204" pitchFamily="34" charset="0"/>
              <a:buChar char="•"/>
            </a:pPr>
            <a:r>
              <a:rPr lang="en-IN" sz="2000" dirty="0"/>
              <a:t>Acts as the user interaction point
Farmers or users enter crop symptoms, questions, or farm details
Sends the user’s query to the AI system for analysis</a:t>
            </a:r>
          </a:p>
          <a:p>
            <a:pPr>
              <a:lnSpc>
                <a:spcPct val="150000"/>
              </a:lnSpc>
            </a:pPr>
            <a:r>
              <a:rPr lang="en-IN" sz="2000" dirty="0"/>
              <a:t>
2) IBM </a:t>
            </a:r>
            <a:r>
              <a:rPr lang="en-IN" sz="2000" dirty="0" err="1"/>
              <a:t>watsonx</a:t>
            </a:r>
            <a:r>
              <a:rPr lang="en-IN" sz="2000" dirty="0"/>
              <a:t> AI Agent</a:t>
            </a:r>
          </a:p>
          <a:p>
            <a:pPr marL="285750" indent="-285750">
              <a:lnSpc>
                <a:spcPct val="150000"/>
              </a:lnSpc>
              <a:buFont typeface="Arial" panose="020B0604020202020204" pitchFamily="34" charset="0"/>
              <a:buChar char="•"/>
            </a:pPr>
            <a:r>
              <a:rPr lang="en-IN" sz="2000" dirty="0"/>
              <a:t>Serves as the core intelligence of the system
Processes user input along with agricultural data
Uses AI models to </a:t>
            </a:r>
            <a:r>
              <a:rPr lang="en-IN" sz="2000" dirty="0" err="1"/>
              <a:t>analyze</a:t>
            </a:r>
            <a:r>
              <a:rPr lang="en-IN" sz="2000" dirty="0"/>
              <a:t> crop conditions, detect risks, and generate advisories
Provides data-driven recommendations for crop health management</a:t>
            </a:r>
          </a:p>
          <a:p>
            <a:pPr>
              <a:lnSpc>
                <a:spcPct val="150000"/>
              </a:lnSpc>
            </a:pPr>
            <a:r>
              <a:rPr lang="en-IN" sz="1600" dirty="0"/>
              <a:t>
</a:t>
            </a:r>
            <a:endParaRPr lang="en-US" sz="1600"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F55A7959-9FC6-1DAE-7A47-36165450EF1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717755"/>
            <a:ext cx="10515600" cy="5004619"/>
          </a:xfrm>
        </p:spPr>
        <p:txBody>
          <a:bodyPr>
            <a:normAutofit/>
          </a:bodyPr>
          <a:lstStyle/>
          <a:p>
            <a:pPr>
              <a:lnSpc>
                <a:spcPct val="150000"/>
              </a:lnSpc>
            </a:pPr>
            <a:r>
              <a:rPr lang="en-IN" dirty="0">
                <a:solidFill>
                  <a:schemeClr val="tx1"/>
                </a:solidFill>
              </a:rPr>
              <a:t>
</a:t>
            </a:r>
            <a:r>
              <a:rPr lang="en-IN" sz="2000" dirty="0">
                <a:solidFill>
                  <a:schemeClr val="tx1"/>
                </a:solidFill>
              </a:rPr>
              <a:t>3) Chat Output</a:t>
            </a:r>
          </a:p>
          <a:p>
            <a:pPr marL="285750" indent="-285750">
              <a:lnSpc>
                <a:spcPct val="150000"/>
              </a:lnSpc>
              <a:buFont typeface="Arial" panose="020B0604020202020204" pitchFamily="34" charset="0"/>
              <a:buChar char="•"/>
            </a:pPr>
            <a:r>
              <a:rPr lang="en-IN" sz="2000" dirty="0">
                <a:solidFill>
                  <a:schemeClr val="tx1"/>
                </a:solidFill>
              </a:rPr>
              <a:t>Displays the AI-generated response to the user
Shows crop health insights, risk alerts, and advisory suggestions
Acts as the final communication layer between the system and the farmer</a:t>
            </a:r>
            <a:endParaRPr lang="en-US" sz="2000" dirty="0">
              <a:solidFill>
                <a:schemeClr val="tx1"/>
              </a:solidFill>
            </a:endParaRPr>
          </a:p>
        </p:txBody>
      </p:sp>
      <p:pic>
        <p:nvPicPr>
          <p:cNvPr id="4" name="Picture 3">
            <a:extLst>
              <a:ext uri="{FF2B5EF4-FFF2-40B4-BE49-F238E27FC236}">
                <a16:creationId xmlns:a16="http://schemas.microsoft.com/office/drawing/2014/main" id="{F55A7959-9FC6-1DAE-7A47-36165450EF19}"/>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480202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rotWithShape="1">
          <a:blip r:embed="rId3">
            <a:extLst>
              <a:ext uri="{28A0092B-C50C-407E-A947-70E740481C1C}">
                <a14:useLocalDpi xmlns:a14="http://schemas.microsoft.com/office/drawing/2010/main" val="0"/>
              </a:ext>
            </a:extLst>
          </a:blip>
          <a:srcRect t="-182" b="5327"/>
          <a:stretch/>
        </p:blipFill>
        <p:spPr>
          <a:xfrm>
            <a:off x="838779" y="1089890"/>
            <a:ext cx="9904525" cy="4798141"/>
          </a:xfrm>
          <a:prstGeom prst="rect">
            <a:avLst/>
          </a:prstGeom>
        </p:spPr>
      </p:pic>
      <p:sp>
        <p:nvSpPr>
          <p:cNvPr id="2" name="TextBox 1">
            <a:extLst>
              <a:ext uri="{FF2B5EF4-FFF2-40B4-BE49-F238E27FC236}">
                <a16:creationId xmlns:a16="http://schemas.microsoft.com/office/drawing/2014/main" id="{48079FEC-4447-C4FA-64A4-CB532564DAF6}"/>
              </a:ext>
            </a:extLst>
          </p:cNvPr>
          <p:cNvSpPr txBox="1"/>
          <p:nvPr/>
        </p:nvSpPr>
        <p:spPr>
          <a:xfrm>
            <a:off x="838779" y="200739"/>
            <a:ext cx="468406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1</a:t>
            </a:r>
            <a:r>
              <a:rPr lang="en-US" sz="2800" b="1" dirty="0"/>
              <a:t> </a:t>
            </a:r>
            <a:endParaRPr lang="en-US" sz="1600" dirty="0"/>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4"/>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9BD6667-B0AB-E1EE-4A88-EF769D5A1818}"/>
              </a:ext>
            </a:extLst>
          </p:cNvPr>
          <p:cNvPicPr>
            <a:picLocks noChangeAspect="1"/>
          </p:cNvPicPr>
          <p:nvPr/>
        </p:nvPicPr>
        <p:blipFill rotWithShape="1">
          <a:blip r:embed="rId3">
            <a:extLst>
              <a:ext uri="{28A0092B-C50C-407E-A947-70E740481C1C}">
                <a14:useLocalDpi xmlns:a14="http://schemas.microsoft.com/office/drawing/2010/main" val="0"/>
              </a:ext>
            </a:extLst>
          </a:blip>
          <a:srcRect b="8030"/>
          <a:stretch/>
        </p:blipFill>
        <p:spPr>
          <a:xfrm>
            <a:off x="1065320" y="831178"/>
            <a:ext cx="9923988" cy="5068177"/>
          </a:xfrm>
          <a:prstGeom prst="rect">
            <a:avLst/>
          </a:prstGeom>
        </p:spPr>
      </p:pic>
      <p:sp>
        <p:nvSpPr>
          <p:cNvPr id="2" name="TextBox 1">
            <a:extLst>
              <a:ext uri="{FF2B5EF4-FFF2-40B4-BE49-F238E27FC236}">
                <a16:creationId xmlns:a16="http://schemas.microsoft.com/office/drawing/2014/main" id="{6FFE5FD7-2292-570F-1397-1E9287F8CB9D}"/>
              </a:ext>
            </a:extLst>
          </p:cNvPr>
          <p:cNvSpPr txBox="1"/>
          <p:nvPr/>
        </p:nvSpPr>
        <p:spPr>
          <a:xfrm>
            <a:off x="1065320" y="138955"/>
            <a:ext cx="52607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1</a:t>
            </a:r>
            <a:endParaRPr lang="en-US" dirty="0"/>
          </a:p>
        </p:txBody>
      </p:sp>
      <p:pic>
        <p:nvPicPr>
          <p:cNvPr id="5" name="Picture 4">
            <a:extLst>
              <a:ext uri="{FF2B5EF4-FFF2-40B4-BE49-F238E27FC236}">
                <a16:creationId xmlns:a16="http://schemas.microsoft.com/office/drawing/2014/main" id="{A9872FD1-7A0B-E5B9-638C-B95C4CCFE94C}"/>
              </a:ext>
            </a:extLst>
          </p:cNvPr>
          <p:cNvPicPr>
            <a:picLocks noChangeAspect="1"/>
          </p:cNvPicPr>
          <p:nvPr/>
        </p:nvPicPr>
        <p:blipFill>
          <a:blip r:embed="rId4"/>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113568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9BD6667-B0AB-E1EE-4A88-EF769D5A1818}"/>
              </a:ext>
            </a:extLst>
          </p:cNvPr>
          <p:cNvPicPr>
            <a:picLocks noChangeAspect="1"/>
          </p:cNvPicPr>
          <p:nvPr/>
        </p:nvPicPr>
        <p:blipFill rotWithShape="1">
          <a:blip r:embed="rId3">
            <a:extLst>
              <a:ext uri="{28A0092B-C50C-407E-A947-70E740481C1C}">
                <a14:useLocalDpi xmlns:a14="http://schemas.microsoft.com/office/drawing/2010/main" val="0"/>
              </a:ext>
            </a:extLst>
          </a:blip>
          <a:srcRect b="7722"/>
          <a:stretch/>
        </p:blipFill>
        <p:spPr>
          <a:xfrm>
            <a:off x="1065320" y="884903"/>
            <a:ext cx="9818989" cy="5201265"/>
          </a:xfrm>
          <a:prstGeom prst="rect">
            <a:avLst/>
          </a:prstGeom>
        </p:spPr>
      </p:pic>
      <p:sp>
        <p:nvSpPr>
          <p:cNvPr id="2" name="TextBox 1">
            <a:extLst>
              <a:ext uri="{FF2B5EF4-FFF2-40B4-BE49-F238E27FC236}">
                <a16:creationId xmlns:a16="http://schemas.microsoft.com/office/drawing/2014/main" id="{6FFE5FD7-2292-570F-1397-1E9287F8CB9D}"/>
              </a:ext>
            </a:extLst>
          </p:cNvPr>
          <p:cNvSpPr txBox="1"/>
          <p:nvPr/>
        </p:nvSpPr>
        <p:spPr>
          <a:xfrm>
            <a:off x="1065320" y="138955"/>
            <a:ext cx="52607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2</a:t>
            </a:r>
            <a:endParaRPr lang="en-US" dirty="0"/>
          </a:p>
        </p:txBody>
      </p:sp>
      <p:pic>
        <p:nvPicPr>
          <p:cNvPr id="5" name="Picture 4">
            <a:extLst>
              <a:ext uri="{FF2B5EF4-FFF2-40B4-BE49-F238E27FC236}">
                <a16:creationId xmlns:a16="http://schemas.microsoft.com/office/drawing/2014/main" id="{A9872FD1-7A0B-E5B9-638C-B95C4CCFE94C}"/>
              </a:ext>
            </a:extLst>
          </p:cNvPr>
          <p:cNvPicPr>
            <a:picLocks noChangeAspect="1"/>
          </p:cNvPicPr>
          <p:nvPr/>
        </p:nvPicPr>
        <p:blipFill>
          <a:blip r:embed="rId4"/>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67478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9BD6667-B0AB-E1EE-4A88-EF769D5A1818}"/>
              </a:ext>
            </a:extLst>
          </p:cNvPr>
          <p:cNvPicPr>
            <a:picLocks noChangeAspect="1"/>
          </p:cNvPicPr>
          <p:nvPr/>
        </p:nvPicPr>
        <p:blipFill rotWithShape="1">
          <a:blip r:embed="rId3">
            <a:extLst>
              <a:ext uri="{28A0092B-C50C-407E-A947-70E740481C1C}">
                <a14:useLocalDpi xmlns:a14="http://schemas.microsoft.com/office/drawing/2010/main" val="0"/>
              </a:ext>
            </a:extLst>
          </a:blip>
          <a:srcRect b="5483"/>
          <a:stretch/>
        </p:blipFill>
        <p:spPr>
          <a:xfrm>
            <a:off x="1065320" y="865239"/>
            <a:ext cx="9917312" cy="5220929"/>
          </a:xfrm>
          <a:prstGeom prst="rect">
            <a:avLst/>
          </a:prstGeom>
        </p:spPr>
      </p:pic>
      <p:sp>
        <p:nvSpPr>
          <p:cNvPr id="2" name="TextBox 1">
            <a:extLst>
              <a:ext uri="{FF2B5EF4-FFF2-40B4-BE49-F238E27FC236}">
                <a16:creationId xmlns:a16="http://schemas.microsoft.com/office/drawing/2014/main" id="{6FFE5FD7-2292-570F-1397-1E9287F8CB9D}"/>
              </a:ext>
            </a:extLst>
          </p:cNvPr>
          <p:cNvSpPr txBox="1"/>
          <p:nvPr/>
        </p:nvSpPr>
        <p:spPr>
          <a:xfrm>
            <a:off x="1065320" y="138955"/>
            <a:ext cx="52607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3</a:t>
            </a:r>
            <a:endParaRPr lang="en-US" dirty="0"/>
          </a:p>
        </p:txBody>
      </p:sp>
      <p:pic>
        <p:nvPicPr>
          <p:cNvPr id="5" name="Picture 4">
            <a:extLst>
              <a:ext uri="{FF2B5EF4-FFF2-40B4-BE49-F238E27FC236}">
                <a16:creationId xmlns:a16="http://schemas.microsoft.com/office/drawing/2014/main" id="{A9872FD1-7A0B-E5B9-638C-B95C4CCFE94C}"/>
              </a:ext>
            </a:extLst>
          </p:cNvPr>
          <p:cNvPicPr>
            <a:picLocks noChangeAspect="1"/>
          </p:cNvPicPr>
          <p:nvPr/>
        </p:nvPicPr>
        <p:blipFill>
          <a:blip r:embed="rId4"/>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961478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200" b="1" i="0" u="none" strike="noStrike" cap="none" dirty="0">
                <a:solidFill>
                  <a:srgbClr val="051D3A"/>
                </a:solidFill>
                <a:latin typeface="Times New Roman"/>
                <a:ea typeface="Times New Roman"/>
                <a:cs typeface="Times New Roman"/>
                <a:sym typeface="Times New Roman"/>
              </a:rPr>
              <a:t>Future Scope </a:t>
            </a:r>
            <a:endParaRPr sz="32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marL="342900" marR="0" lvl="0" indent="-342900" algn="l" rtl="0">
              <a:lnSpc>
                <a:spcPct val="162162"/>
              </a:lnSpc>
              <a:spcBef>
                <a:spcPts val="0"/>
              </a:spcBef>
              <a:spcAft>
                <a:spcPts val="0"/>
              </a:spcAft>
              <a:buClr>
                <a:srgbClr val="2B3541"/>
              </a:buClr>
              <a:buSzPts val="1850"/>
              <a:buFont typeface="Arial" panose="020B0604020202020204" pitchFamily="34" charset="0"/>
              <a:buChar char="•"/>
            </a:pPr>
            <a:r>
              <a:rPr lang="en-IN" sz="2000" b="0" i="0" u="none" strike="noStrike" cap="none" dirty="0">
                <a:solidFill>
                  <a:srgbClr val="2B3541"/>
                </a:solidFill>
                <a:latin typeface="Times New Roman"/>
                <a:ea typeface="Times New Roman"/>
                <a:cs typeface="Times New Roman"/>
                <a:sym typeface="Times New Roman"/>
              </a:rPr>
              <a:t>Integration with </a:t>
            </a:r>
            <a:r>
              <a:rPr lang="en-IN" sz="2000" b="0" i="0" u="none" strike="noStrike" cap="none" dirty="0" err="1">
                <a:solidFill>
                  <a:srgbClr val="2B3541"/>
                </a:solidFill>
                <a:latin typeface="Times New Roman"/>
                <a:ea typeface="Times New Roman"/>
                <a:cs typeface="Times New Roman"/>
                <a:sym typeface="Times New Roman"/>
              </a:rPr>
              <a:t>IoT</a:t>
            </a:r>
            <a:r>
              <a:rPr lang="en-IN" sz="2000" b="0" i="0" u="none" strike="noStrike" cap="none" dirty="0">
                <a:solidFill>
                  <a:srgbClr val="2B3541"/>
                </a:solidFill>
                <a:latin typeface="Times New Roman"/>
                <a:ea typeface="Times New Roman"/>
                <a:cs typeface="Times New Roman"/>
                <a:sym typeface="Times New Roman"/>
              </a:rPr>
              <a:t> sensors for real-time field monitoring
Use of satellite and drone imagery for large-scale crop analysis
Advanced AI models for yield prediction and risk forecasting
Expansion to support multiple crops and different regions
Personalized advisories based on soil, weather, and crop stage
Multilingual, mobile-based advisory system for better farmer access</a:t>
            </a:r>
            <a:r>
              <a:rPr lang="en-US" sz="2000" b="0" i="0" u="none" strike="noStrike" cap="none" dirty="0">
                <a:solidFill>
                  <a:srgbClr val="2B3541"/>
                </a:solidFill>
                <a:latin typeface="Times New Roman"/>
                <a:ea typeface="Times New Roman"/>
                <a:cs typeface="Times New Roman"/>
                <a:sym typeface="Times New Roman"/>
              </a:rPr>
              <a:t> </a:t>
            </a:r>
            <a:endParaRPr lang="en-US" sz="200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200" b="1" i="0" u="none" strike="noStrike" cap="none" dirty="0">
                <a:solidFill>
                  <a:srgbClr val="051D3A"/>
                </a:solidFill>
                <a:latin typeface="Times New Roman"/>
                <a:ea typeface="Times New Roman"/>
                <a:cs typeface="Times New Roman"/>
                <a:sym typeface="Times New Roman"/>
              </a:rPr>
              <a:t>Git Hub Link</a:t>
            </a:r>
            <a:endParaRPr sz="3200" b="1"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8925A06-F7F9-F25E-EBB3-1891B33446BF}"/>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2" name="TextBox 1">
            <a:extLst>
              <a:ext uri="{FF2B5EF4-FFF2-40B4-BE49-F238E27FC236}">
                <a16:creationId xmlns:a16="http://schemas.microsoft.com/office/drawing/2014/main" id="{C1DC4513-444D-665A-B116-F26F1E897C80}"/>
              </a:ext>
            </a:extLst>
          </p:cNvPr>
          <p:cNvSpPr txBox="1"/>
          <p:nvPr/>
        </p:nvSpPr>
        <p:spPr>
          <a:xfrm>
            <a:off x="1218724" y="1803924"/>
            <a:ext cx="5848387" cy="923330"/>
          </a:xfrm>
          <a:prstGeom prst="rect">
            <a:avLst/>
          </a:prstGeom>
          <a:noFill/>
        </p:spPr>
        <p:txBody>
          <a:bodyPr wrap="square" rtlCol="0">
            <a:spAutoFit/>
          </a:bodyPr>
          <a:lstStyle/>
          <a:p>
            <a:pPr algn="l"/>
            <a:r>
              <a:rPr lang="en-IN" sz="2000" u="sng" dirty="0">
                <a:hlinkClick r:id="rId4"/>
              </a:rPr>
              <a:t>https://github.com/keerthanagowda1505-blip/First-Project</a:t>
            </a:r>
            <a:endParaRPr lang="en-IN" sz="2000" u="sng" dirty="0"/>
          </a:p>
          <a:p>
            <a:pPr algn="l"/>
            <a:endParaRPr lang="en-US" u="sng" dirty="0"/>
          </a:p>
        </p:txBody>
      </p:sp>
    </p:spTree>
    <p:extLst>
      <p:ext uri="{BB962C8B-B14F-4D97-AF65-F5344CB8AC3E}">
        <p14:creationId xmlns:p14="http://schemas.microsoft.com/office/powerpoint/2010/main" val="2115484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BDA5ADF-C9A0-CA5D-844A-6AC3872A0D8C}"/>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a:lnSpc>
                <a:spcPct val="157142"/>
              </a:lnSpc>
            </a:pPr>
            <a:r>
              <a:rPr lang="en-US" sz="3200" b="1" dirty="0">
                <a:solidFill>
                  <a:srgbClr val="051D3A"/>
                </a:solidFill>
                <a:latin typeface="Times New Roman"/>
                <a:cs typeface="Times New Roman"/>
                <a:sym typeface="Times New Roman"/>
              </a:rPr>
              <a:t>References</a:t>
            </a:r>
            <a:r>
              <a:rPr lang="en-US" sz="3500" b="1" dirty="0">
                <a:solidFill>
                  <a:srgbClr val="051D3A"/>
                </a:solidFill>
                <a:latin typeface="Times New Roman"/>
                <a:cs typeface="Times New Roman"/>
                <a:sym typeface="Times New Roman"/>
              </a:rPr>
              <a:t> </a:t>
            </a:r>
            <a:endParaRPr lang="en-US" dirty="0"/>
          </a:p>
        </p:txBody>
      </p:sp>
      <p:sp>
        <p:nvSpPr>
          <p:cNvPr id="279" name="Google Shape;279;p18">
            <a:extLst>
              <a:ext uri="{FF2B5EF4-FFF2-40B4-BE49-F238E27FC236}">
                <a16:creationId xmlns:a16="http://schemas.microsoft.com/office/drawing/2014/main" id="{AF5AFD00-74FD-B439-5973-23933ABD88EC}"/>
              </a:ext>
            </a:extLst>
          </p:cNvPr>
          <p:cNvSpPr/>
          <p:nvPr/>
        </p:nvSpPr>
        <p:spPr>
          <a:xfrm>
            <a:off x="1218724" y="1637819"/>
            <a:ext cx="8652848" cy="3996612"/>
          </a:xfrm>
          <a:prstGeom prst="rect">
            <a:avLst/>
          </a:prstGeom>
          <a:noFill/>
          <a:ln>
            <a:noFill/>
          </a:ln>
        </p:spPr>
        <p:txBody>
          <a:bodyPr spcFirstLastPara="1" wrap="square" lIns="0" tIns="0" rIns="0" bIns="0" anchor="t" anchorCtr="0">
            <a:noAutofit/>
          </a:bodyPr>
          <a:lstStyle/>
          <a:p>
            <a:pPr marR="0" lvl="0" algn="l" rtl="0">
              <a:lnSpc>
                <a:spcPct val="162162"/>
              </a:lnSpc>
              <a:spcBef>
                <a:spcPts val="0"/>
              </a:spcBef>
              <a:spcAft>
                <a:spcPts val="0"/>
              </a:spcAft>
              <a:buClr>
                <a:srgbClr val="2B3541"/>
              </a:buClr>
              <a:buSzPts val="1850"/>
            </a:pPr>
            <a:r>
              <a:rPr lang="en-IN" sz="1850" dirty="0">
                <a:solidFill>
                  <a:srgbClr val="2B3541"/>
                </a:solidFill>
                <a:latin typeface="Times New Roman"/>
                <a:ea typeface="Times New Roman"/>
                <a:cs typeface="Times New Roman"/>
                <a:sym typeface="Times New Roman"/>
              </a:rPr>
              <a:t>1. </a:t>
            </a:r>
            <a:r>
              <a:rPr lang="en-IN" sz="2000" dirty="0">
                <a:solidFill>
                  <a:srgbClr val="2B3541"/>
                </a:solidFill>
                <a:latin typeface="Times New Roman"/>
                <a:ea typeface="Times New Roman"/>
                <a:cs typeface="Times New Roman"/>
                <a:sym typeface="Times New Roman"/>
              </a:rPr>
              <a:t>AI-powered crop health monitoring research (drone + machine learning) </a:t>
            </a:r>
            <a:r>
              <a:rPr lang="en-IN" sz="2000" dirty="0">
                <a:solidFill>
                  <a:srgbClr val="2B3541"/>
                </a:solidFill>
                <a:latin typeface="Times New Roman"/>
                <a:ea typeface="Times New Roman"/>
                <a:cs typeface="Times New Roman"/>
                <a:sym typeface="Times New Roman"/>
                <a:hlinkClick r:id="rId3"/>
              </a:rPr>
              <a:t>https://journal.ijprse.com/index.php/ijprse/article/view/1224</a:t>
            </a:r>
            <a:r>
              <a:rPr lang="en-IN" sz="2000" dirty="0">
                <a:solidFill>
                  <a:srgbClr val="2B3541"/>
                </a:solidFill>
                <a:latin typeface="Times New Roman"/>
                <a:ea typeface="Times New Roman"/>
                <a:cs typeface="Times New Roman"/>
                <a:sym typeface="Times New Roman"/>
              </a:rPr>
              <a:t> </a:t>
            </a:r>
            <a:endParaRPr lang="en-US" sz="200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IN" sz="2000" dirty="0">
                <a:solidFill>
                  <a:srgbClr val="2B3541"/>
                </a:solidFill>
                <a:latin typeface="Times New Roman"/>
                <a:ea typeface="Times New Roman"/>
                <a:cs typeface="Times New Roman"/>
                <a:sym typeface="Times New Roman"/>
              </a:rPr>
              <a:t>2. Review on AI, Machine Learning &amp; </a:t>
            </a:r>
            <a:r>
              <a:rPr lang="en-IN" sz="2000" dirty="0" err="1">
                <a:solidFill>
                  <a:srgbClr val="2B3541"/>
                </a:solidFill>
                <a:latin typeface="Times New Roman"/>
                <a:ea typeface="Times New Roman"/>
                <a:cs typeface="Times New Roman"/>
                <a:sym typeface="Times New Roman"/>
              </a:rPr>
              <a:t>IoT</a:t>
            </a:r>
            <a:r>
              <a:rPr lang="en-IN" sz="2000" dirty="0">
                <a:solidFill>
                  <a:srgbClr val="2B3541"/>
                </a:solidFill>
                <a:latin typeface="Times New Roman"/>
                <a:ea typeface="Times New Roman"/>
                <a:cs typeface="Times New Roman"/>
                <a:sym typeface="Times New Roman"/>
              </a:rPr>
              <a:t> integration in precision agriculture
</a:t>
            </a:r>
            <a:r>
              <a:rPr lang="en-IN" sz="2000" dirty="0">
                <a:solidFill>
                  <a:srgbClr val="2B3541"/>
                </a:solidFill>
                <a:latin typeface="Times New Roman"/>
                <a:ea typeface="Times New Roman"/>
                <a:cs typeface="Times New Roman"/>
                <a:sym typeface="Times New Roman"/>
                <a:hlinkClick r:id="rId4"/>
              </a:rPr>
              <a:t>https://doi.org/10.25081/jsa.2025.v9.9497</a:t>
            </a:r>
            <a:r>
              <a:rPr lang="en-IN" sz="2000"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IN" sz="2000" b="0" i="0" u="none" strike="noStrike" cap="none" dirty="0">
                <a:solidFill>
                  <a:srgbClr val="2B3541"/>
                </a:solidFill>
                <a:latin typeface="Times New Roman"/>
                <a:ea typeface="Times New Roman"/>
                <a:cs typeface="Times New Roman"/>
                <a:sym typeface="Times New Roman"/>
              </a:rPr>
              <a:t>3. Precision Agriculture 4.0: AI + </a:t>
            </a:r>
            <a:r>
              <a:rPr lang="en-IN" sz="2000" b="0" i="0" u="none" strike="noStrike" cap="none" dirty="0" err="1">
                <a:solidFill>
                  <a:srgbClr val="2B3541"/>
                </a:solidFill>
                <a:latin typeface="Times New Roman"/>
                <a:ea typeface="Times New Roman"/>
                <a:cs typeface="Times New Roman"/>
                <a:sym typeface="Times New Roman"/>
              </a:rPr>
              <a:t>IoT</a:t>
            </a:r>
            <a:r>
              <a:rPr lang="en-IN" sz="2000" b="0" i="0" u="none" strike="noStrike" cap="none" dirty="0">
                <a:solidFill>
                  <a:srgbClr val="2B3541"/>
                </a:solidFill>
                <a:latin typeface="Times New Roman"/>
                <a:ea typeface="Times New Roman"/>
                <a:cs typeface="Times New Roman"/>
                <a:sym typeface="Times New Roman"/>
              </a:rPr>
              <a:t> for data-driven crop monitoring
</a:t>
            </a:r>
            <a:r>
              <a:rPr lang="en-IN" sz="2000" b="0" i="0" u="none" strike="noStrike" cap="none" dirty="0">
                <a:solidFill>
                  <a:srgbClr val="2B3541"/>
                </a:solidFill>
                <a:latin typeface="Times New Roman"/>
                <a:ea typeface="Times New Roman"/>
                <a:cs typeface="Times New Roman"/>
                <a:sym typeface="Times New Roman"/>
                <a:hlinkClick r:id="rId5"/>
              </a:rPr>
              <a:t>https://doi.org/10.17051/NJSARI/01.01.07</a:t>
            </a:r>
            <a:r>
              <a:rPr lang="en-IN" sz="200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IN" sz="2000" dirty="0">
                <a:solidFill>
                  <a:srgbClr val="2B3541"/>
                </a:solidFill>
                <a:latin typeface="Times New Roman"/>
                <a:ea typeface="Times New Roman"/>
                <a:cs typeface="Times New Roman"/>
                <a:sym typeface="Times New Roman"/>
              </a:rPr>
              <a:t>4. Integrating AI and </a:t>
            </a:r>
            <a:r>
              <a:rPr lang="en-IN" sz="2000" dirty="0" err="1">
                <a:solidFill>
                  <a:srgbClr val="2B3541"/>
                </a:solidFill>
                <a:latin typeface="Times New Roman"/>
                <a:ea typeface="Times New Roman"/>
                <a:cs typeface="Times New Roman"/>
                <a:sym typeface="Times New Roman"/>
              </a:rPr>
              <a:t>IoT</a:t>
            </a:r>
            <a:r>
              <a:rPr lang="en-IN" sz="2000" dirty="0">
                <a:solidFill>
                  <a:srgbClr val="2B3541"/>
                </a:solidFill>
                <a:latin typeface="Times New Roman"/>
                <a:ea typeface="Times New Roman"/>
                <a:cs typeface="Times New Roman"/>
                <a:sym typeface="Times New Roman"/>
              </a:rPr>
              <a:t> for crop monitoring &amp; management
</a:t>
            </a:r>
            <a:r>
              <a:rPr lang="en-IN" sz="2000" dirty="0">
                <a:solidFill>
                  <a:srgbClr val="2B3541"/>
                </a:solidFill>
                <a:latin typeface="Times New Roman"/>
                <a:ea typeface="Times New Roman"/>
                <a:cs typeface="Times New Roman"/>
                <a:sym typeface="Times New Roman"/>
                <a:hlinkClick r:id="rId6"/>
              </a:rPr>
              <a:t>https://doi.org/10.1016/j.sintl.2024.100292</a:t>
            </a:r>
            <a:r>
              <a:rPr lang="en-IN" sz="2000" dirty="0">
                <a:solidFill>
                  <a:srgbClr val="2B3541"/>
                </a:solidFill>
                <a:latin typeface="Times New Roman"/>
                <a:ea typeface="Times New Roman"/>
                <a:cs typeface="Times New Roman"/>
                <a:sym typeface="Times New Roman"/>
              </a:rPr>
              <a:t> </a:t>
            </a:r>
            <a:endParaRPr sz="200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8F2A10B-67AA-AAE6-232F-CFA602CB53A9}"/>
              </a:ext>
            </a:extLst>
          </p:cNvPr>
          <p:cNvSpPr/>
          <p:nvPr/>
        </p:nvSpPr>
        <p:spPr>
          <a:xfrm>
            <a:off x="-1664200" y="2455828"/>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760EC5B-78FF-4D99-1A49-A2DD6DB4A362}"/>
              </a:ext>
            </a:extLst>
          </p:cNvPr>
          <p:cNvPicPr>
            <a:picLocks noChangeAspect="1"/>
          </p:cNvPicPr>
          <p:nvPr/>
        </p:nvPicPr>
        <p:blipFill>
          <a:blip r:embed="rId7"/>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00156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pic>
        <p:nvPicPr>
          <p:cNvPr id="3" name="Picture 2">
            <a:extLst>
              <a:ext uri="{FF2B5EF4-FFF2-40B4-BE49-F238E27FC236}">
                <a16:creationId xmlns:a16="http://schemas.microsoft.com/office/drawing/2014/main" id="{BA9DDD0D-7A91-1E4E-00BA-F7FF05ABF76F}"/>
              </a:ext>
            </a:extLst>
          </p:cNvPr>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1255</TotalTime>
  <Words>752</Words>
  <Application>Microsoft Office PowerPoint</Application>
  <PresentationFormat>Widescreen</PresentationFormat>
  <Paragraphs>68</Paragraphs>
  <Slides>19</Slides>
  <Notes>17</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Agentic AI Hackathon: Building Intelligent Agents with IBM Granite and LangFlow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Keerthana Gowda</cp:lastModifiedBy>
  <cp:revision>136</cp:revision>
  <dcterms:created xsi:type="dcterms:W3CDTF">2025-07-08T05:06:56Z</dcterms:created>
  <dcterms:modified xsi:type="dcterms:W3CDTF">2026-02-03T06:05:20Z</dcterms:modified>
</cp:coreProperties>
</file>